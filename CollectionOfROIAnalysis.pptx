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/>
    <p:restoredTop sz="94638"/>
  </p:normalViewPr>
  <p:slideViewPr>
    <p:cSldViewPr snapToGrid="0">
      <p:cViewPr varScale="1">
        <p:scale>
          <a:sx n="133" d="100"/>
          <a:sy n="133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1EE98C-3B6D-FBB5-F0D3-6952D6E89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F65317-69E3-B500-241B-DC6A85E8E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D70FB1-1E3E-1FEA-BE09-95F57D8C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0CD69E-E766-DC6C-D810-D2B6576C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430EB6-DB9B-D29C-A83D-D7F94044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875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BC4D5-640D-392B-6FD2-932673E11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1F2A9-7067-6A7C-7F5F-379C3AEE1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D02BF9-30B6-7162-57CC-773581ED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91EC2C-F933-3369-425C-9BF3F5A0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96828A-A210-4D20-856A-881E2B79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562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B511D-CC1D-8355-8BEF-FBBA2465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276D67-B5EE-E817-80F1-FD3CB925D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649E2C-E0C9-2FB9-F466-35FF0B9B7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3F4B0-23E0-61E4-0F99-1ABAE780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3E345A-4DAE-55B2-CB73-1C817F053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971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87EF6-364E-6090-A712-E7796207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7037BC-9E6F-7957-2996-62BE78F80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708528-FAA7-D66C-E604-BB2A21024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77BDC3-B055-BCDA-2481-A2E31DE8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101D2A-567F-7B06-6D8A-EEEE84EE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90BADC-466C-7C86-531E-A9904974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222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1E90B-DB4E-3581-75FB-F5FEF9FD2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C387D5-9476-37E4-0875-5B73A8820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988685-E54C-126D-235B-D33437156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F14010-2829-908D-D533-6AA522C0D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CC3823-691E-5D3D-2FCB-97F14E8EE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A7B521-2C45-1ADC-6845-4704E9077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17CDC7D-724C-0400-2B0A-99D00F70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E21B69-7C4F-9B13-BE30-5D34A495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12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CDC2A-B536-011B-DFCE-2CE35A7EE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64A65B-ECEA-E497-45E7-BBE5ECA1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28705A-64B5-CFBB-50F1-11ED9978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5F8EE8-2412-5843-9FF3-0A92D68F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917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E533A3-62C6-B4A6-70C0-A0A9C3A1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DDA08B-9153-FA57-EA78-8FC3AE21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7F8BF-24CF-B39E-27A8-75BBCA20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456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8DE67-0F9D-C4DD-BF10-26532F22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8EC8A2-DE54-C33F-4C31-EFEF96F28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A33983-26B4-2AD3-F564-3868E010B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323F00-E2C8-5A16-63D0-152ECEA1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2608DD-D2D6-CD1E-6041-BEDEAF5B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68880E-8DEF-38FE-62B2-08C1EC13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855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03A9D-3CBF-8837-14FB-C90DFBE8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F00C302-0C61-C59A-F2EE-14E17311B2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024ECE-3755-E650-E90B-D119CEA86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F90501-CD71-0E79-BF76-AE9725EB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C758B6-32D3-6E1F-7DD5-922AB88D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113662-3E21-B90D-422E-4573BFFA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719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2351C-0E05-56B4-4ACC-E55076CEB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057067-C40F-FD28-8B00-9462365FE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3A294-9D9A-A5BD-8DFE-011855DC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B5A45-1BFE-0879-1AC7-CFEA66B0B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73C580-8FC9-1263-11AA-76243A64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415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2D26A6-E8C6-2261-1929-DC8E117E2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F971BB-8816-589D-E78D-38F4E9082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F68EEB-21E2-5888-A3E4-46273EC6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1514CD-E2E5-CB4D-2E9C-8F60B0213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C90837-4CB4-CFB0-8535-4DC8C76E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239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F6D0E7-F691-D281-6B26-3E760CB1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A011BE-14D5-C604-35B6-1EFC205D6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2F08B4-610A-20C4-74CB-6351EA774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ADC2F-D78C-024B-BF28-5C6C231A4B53}" type="datetimeFigureOut">
              <a:rPr kumimoji="1" lang="zh-CN" altLang="en-US" smtClean="0"/>
              <a:t>2026/1/15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9F87A7-D0AD-0923-1AA3-CC75841DF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0EBA54-44D4-CE2C-F100-940C31F50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7F829-227C-9B4C-B62C-149BE7C25D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598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390/make701001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A94B980-D665-E210-5D8E-3822721A945C}"/>
              </a:ext>
            </a:extLst>
          </p:cNvPr>
          <p:cNvSpPr txBox="1"/>
          <p:nvPr/>
        </p:nvSpPr>
        <p:spPr>
          <a:xfrm>
            <a:off x="263422" y="162581"/>
            <a:ext cx="6621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A) Region-Based Statistical Analysis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6AB748B-835C-7771-77D9-FC0B2D9A5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253324"/>
              </p:ext>
            </p:extLst>
          </p:nvPr>
        </p:nvGraphicFramePr>
        <p:xfrm>
          <a:off x="306939" y="1311910"/>
          <a:ext cx="11578121" cy="432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13">
                  <a:extLst>
                    <a:ext uri="{9D8B030D-6E8A-4147-A177-3AD203B41FA5}">
                      <a16:colId xmlns:a16="http://schemas.microsoft.com/office/drawing/2014/main" val="1060931324"/>
                    </a:ext>
                  </a:extLst>
                </a:gridCol>
                <a:gridCol w="4504624">
                  <a:extLst>
                    <a:ext uri="{9D8B030D-6E8A-4147-A177-3AD203B41FA5}">
                      <a16:colId xmlns:a16="http://schemas.microsoft.com/office/drawing/2014/main" val="3668753565"/>
                    </a:ext>
                  </a:extLst>
                </a:gridCol>
                <a:gridCol w="2550694">
                  <a:extLst>
                    <a:ext uri="{9D8B030D-6E8A-4147-A177-3AD203B41FA5}">
                      <a16:colId xmlns:a16="http://schemas.microsoft.com/office/drawing/2014/main" val="1881838719"/>
                    </a:ext>
                  </a:extLst>
                </a:gridCol>
                <a:gridCol w="2358190">
                  <a:extLst>
                    <a:ext uri="{9D8B030D-6E8A-4147-A177-3AD203B41FA5}">
                      <a16:colId xmlns:a16="http://schemas.microsoft.com/office/drawing/2014/main" val="2504478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Related Work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Comments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922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/>
                        <a:t>Proportion of Saliency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计算某一区域内像素权重的总和，然后除以图像中所有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或者所有面部区域权重，得到某区域的百分比（例如，“</a:t>
                      </a:r>
                      <a:r>
                        <a:rPr lang="en-US" altLang="zh-CN" dirty="0"/>
                        <a:t>35% </a:t>
                      </a:r>
                      <a:r>
                        <a:rPr lang="zh-CN" altLang="en-US" dirty="0"/>
                        <a:t>的注意力集中在眼睛上”）。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Ennab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M., &amp;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Mcheick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H. (2025). Advancing AI interpretability in medical imaging: a comparative analysis of pixel-level interpretability and Grad-CAM models.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 Learning and Knowledge Extraction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(1), 12.</a:t>
                      </a:r>
                      <a:r>
                        <a:rPr lang="zh-CN" alt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https://doi.org/10.3390/make7010012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经典且直观，但是简单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319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Pointing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Games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e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Grad-CAM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矩阵中找到最大值的坐标点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(x, y)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，如果该点落在目标区域（例如，眼睛）内，则判定为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hit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，否则，就是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miss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，对整个数据集取平均值即可得到准确率。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Zhang, J.,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Bargal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S. A., Lin, Z., Brandt, J., Shen, X., &amp;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Sclaroff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S. (2018). Top-down neural attention by excitation backprop.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Journal of Computer Vision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126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(10), 1084-1102.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GradCAM</a:t>
                      </a:r>
                      <a:r>
                        <a:rPr lang="zh-CN" altLang="en-US" dirty="0"/>
                        <a:t>常用，但是我们的图片数量有点少，每个</a:t>
                      </a:r>
                      <a:r>
                        <a:rPr lang="en-US" altLang="zh-CN" dirty="0"/>
                        <a:t>model</a:t>
                      </a:r>
                      <a:r>
                        <a:rPr lang="zh-CN" altLang="en-US" dirty="0"/>
                        <a:t>只有</a:t>
                      </a:r>
                      <a:r>
                        <a:rPr lang="en-US" altLang="zh-CN" dirty="0"/>
                        <a:t>21</a:t>
                      </a:r>
                      <a:r>
                        <a:rPr lang="zh-CN" altLang="en-US" dirty="0"/>
                        <a:t>张图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283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/>
                        <a:t>Intersection over Union (</a:t>
                      </a:r>
                      <a:r>
                        <a:rPr lang="en" altLang="zh-CN" dirty="0" err="1"/>
                        <a:t>IoU</a:t>
                      </a:r>
                      <a:r>
                        <a:rPr lang="en" altLang="zh-CN" dirty="0"/>
                        <a:t>) for Saliency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先进行阈值处理（例如，保留最亮的 </a:t>
                      </a:r>
                      <a:r>
                        <a:rPr lang="en-US" altLang="zh-CN" dirty="0"/>
                        <a:t>20% </a:t>
                      </a:r>
                      <a:r>
                        <a:rPr lang="zh-CN" altLang="en-US" dirty="0"/>
                        <a:t>像素）获得新的</a:t>
                      </a:r>
                      <a:r>
                        <a:rPr lang="en-US" altLang="zh-CN" dirty="0"/>
                        <a:t>mask</a:t>
                      </a:r>
                      <a:r>
                        <a:rPr lang="zh-CN" altLang="en-US" dirty="0"/>
                        <a:t>的区域，然后计算这个注意力排后</a:t>
                      </a:r>
                      <a:r>
                        <a:rPr lang="en-US" altLang="zh-CN" dirty="0"/>
                        <a:t>80%</a:t>
                      </a:r>
                      <a:r>
                        <a:rPr lang="zh-CN" altLang="en-US" dirty="0"/>
                        <a:t>的</a:t>
                      </a:r>
                      <a:r>
                        <a:rPr lang="en-US" altLang="zh-CN" dirty="0"/>
                        <a:t>mask</a:t>
                      </a:r>
                      <a:r>
                        <a:rPr lang="zh-CN" altLang="en-US" dirty="0"/>
                        <a:t>区域与目标</a:t>
                      </a:r>
                      <a:r>
                        <a:rPr lang="en-US" altLang="zh-CN" dirty="0"/>
                        <a:t>mask</a:t>
                      </a:r>
                      <a:r>
                        <a:rPr lang="zh-CN" altLang="en-US" dirty="0"/>
                        <a:t>区域（如眼睛）之间的重叠部分。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Gomez, T.,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Fréour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T., &amp;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Mouchère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H. (2022, June). Metrics for saliency map evaluation of deep learning explanation methods. In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Conference on Pattern Recognition and Artificial Intelligence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(pp. 84-95). Cham: Springer International Publishing.</a:t>
                      </a:r>
                      <a:endParaRPr lang="zh-CN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常用，但是</a:t>
                      </a:r>
                      <a:r>
                        <a:rPr lang="en" altLang="zh-CN" dirty="0"/>
                        <a:t>Grad-CAM </a:t>
                      </a:r>
                      <a:r>
                        <a:rPr lang="zh-CN" altLang="en-US" dirty="0"/>
                        <a:t>上采样后通常是圆形的高斯光斑，而</a:t>
                      </a:r>
                      <a:r>
                        <a:rPr lang="en-US" altLang="zh-CN" dirty="0"/>
                        <a:t>mask</a:t>
                      </a:r>
                      <a:r>
                        <a:rPr lang="zh-CN" altLang="en-US" dirty="0"/>
                        <a:t>的框是矩形的，</a:t>
                      </a:r>
                      <a:r>
                        <a:rPr lang="en-US" altLang="zh-CN" dirty="0" err="1"/>
                        <a:t>IoU</a:t>
                      </a:r>
                      <a:r>
                        <a:rPr lang="zh-CN" altLang="en-US" dirty="0"/>
                        <a:t>会偏低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88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062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E2932-5567-15A0-525C-E32299AB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521D2C5-3FAD-B0BE-D0FB-3BDADFA72213}"/>
              </a:ext>
            </a:extLst>
          </p:cNvPr>
          <p:cNvSpPr txBox="1"/>
          <p:nvPr/>
        </p:nvSpPr>
        <p:spPr>
          <a:xfrm>
            <a:off x="263422" y="162581"/>
            <a:ext cx="6621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zh-CN" altLang="en" sz="2800" b="1" dirty="0">
                <a:latin typeface="Arial" panose="020B0604020202020204" pitchFamily="34" charset="0"/>
                <a:cs typeface="Arial" panose="020B0604020202020204" pitchFamily="34" charset="0"/>
              </a:rPr>
              <a:t>反向检验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模型有效性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3E8724-90E6-B8CA-90F3-C8AD04EC2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000751"/>
              </p:ext>
            </p:extLst>
          </p:nvPr>
        </p:nvGraphicFramePr>
        <p:xfrm>
          <a:off x="306939" y="1311910"/>
          <a:ext cx="11578121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13">
                  <a:extLst>
                    <a:ext uri="{9D8B030D-6E8A-4147-A177-3AD203B41FA5}">
                      <a16:colId xmlns:a16="http://schemas.microsoft.com/office/drawing/2014/main" val="1060931324"/>
                    </a:ext>
                  </a:extLst>
                </a:gridCol>
                <a:gridCol w="4504624">
                  <a:extLst>
                    <a:ext uri="{9D8B030D-6E8A-4147-A177-3AD203B41FA5}">
                      <a16:colId xmlns:a16="http://schemas.microsoft.com/office/drawing/2014/main" val="3668753565"/>
                    </a:ext>
                  </a:extLst>
                </a:gridCol>
                <a:gridCol w="2550694">
                  <a:extLst>
                    <a:ext uri="{9D8B030D-6E8A-4147-A177-3AD203B41FA5}">
                      <a16:colId xmlns:a16="http://schemas.microsoft.com/office/drawing/2014/main" val="1881838719"/>
                    </a:ext>
                  </a:extLst>
                </a:gridCol>
                <a:gridCol w="2358190">
                  <a:extLst>
                    <a:ext uri="{9D8B030D-6E8A-4147-A177-3AD203B41FA5}">
                      <a16:colId xmlns:a16="http://schemas.microsoft.com/office/drawing/2014/main" val="2504478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Related Work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Comments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922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/>
                        <a:t>Deletion / Insertion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删除：</a:t>
                      </a:r>
                      <a:r>
                        <a:rPr lang="zh-CN" altLang="en-US" dirty="0">
                          <a:effectLst/>
                        </a:rPr>
                        <a:t>删除（</a:t>
                      </a:r>
                      <a:r>
                        <a:rPr lang="en-US" altLang="zh-CN" dirty="0">
                          <a:effectLst/>
                        </a:rPr>
                        <a:t>mask</a:t>
                      </a:r>
                      <a:r>
                        <a:rPr lang="zh-CN" altLang="en-US" dirty="0">
                          <a:effectLst/>
                        </a:rPr>
                        <a:t>）具有高</a:t>
                      </a:r>
                      <a:r>
                        <a:rPr lang="en-US" altLang="zh-CN" dirty="0" err="1">
                          <a:effectLst/>
                        </a:rPr>
                        <a:t>GradCAM</a:t>
                      </a:r>
                      <a:r>
                        <a:rPr lang="zh-CN" altLang="en-US" dirty="0">
                          <a:effectLst/>
                        </a:rPr>
                        <a:t>权重的像素。如果模型</a:t>
                      </a:r>
                      <a:r>
                        <a:rPr lang="en-US" altLang="zh-CN" dirty="0">
                          <a:effectLst/>
                        </a:rPr>
                        <a:t>faithful</a:t>
                      </a:r>
                      <a:r>
                        <a:rPr lang="zh-CN" altLang="en-US" dirty="0">
                          <a:effectLst/>
                        </a:rPr>
                        <a:t>，则</a:t>
                      </a:r>
                      <a:r>
                        <a:rPr lang="en-US" altLang="zh-CN" dirty="0">
                          <a:effectLst/>
                        </a:rPr>
                        <a:t>model</a:t>
                      </a:r>
                      <a:r>
                        <a:rPr lang="zh-CN" altLang="en-US" dirty="0">
                          <a:effectLst/>
                        </a:rPr>
                        <a:t>的分类分数应该下降。</a:t>
                      </a:r>
                      <a:endParaRPr lang="zh-CN" altLang="en-US" dirty="0"/>
                    </a:p>
                    <a:p>
                      <a:r>
                        <a:rPr lang="zh-CN" altLang="en-US" b="0" dirty="0">
                          <a:effectLst/>
                        </a:rPr>
                        <a:t>插入：</a:t>
                      </a:r>
                      <a:r>
                        <a:rPr lang="zh-CN" altLang="en-US" dirty="0">
                          <a:effectLst/>
                        </a:rPr>
                        <a:t>在空白图像上，根据</a:t>
                      </a:r>
                      <a:r>
                        <a:rPr lang="en-US" altLang="zh-CN" dirty="0" err="1">
                          <a:effectLst/>
                        </a:rPr>
                        <a:t>GradCAM</a:t>
                      </a:r>
                      <a:r>
                        <a:rPr lang="zh-CN" altLang="en-US" dirty="0">
                          <a:effectLst/>
                        </a:rPr>
                        <a:t>权重添加像素。分数应该上升。</a:t>
                      </a:r>
                      <a:endParaRPr lang="zh-CN" alt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Petsiuk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V., Das, A., &amp;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Saenko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K. (2018). Rise: Randomized input sampling for explanation of black-box models. </a:t>
                      </a:r>
                      <a:r>
                        <a:rPr lang="en" altLang="zh-CN" sz="105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preprint arXiv:1806.07421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要再跑一次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，且我们之前的判断依据是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检验比较粗糙，但是解释性比较强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319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/>
                        <a:t>Sanity Check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计算</a:t>
                      </a:r>
                      <a:r>
                        <a:rPr lang="en-US" altLang="zh-CN" dirty="0" err="1">
                          <a:effectLst/>
                        </a:rPr>
                        <a:t>GradCAM</a:t>
                      </a:r>
                      <a:r>
                        <a:rPr lang="zh-CN" altLang="en-US" dirty="0">
                          <a:effectLst/>
                        </a:rPr>
                        <a:t>，然后随机化</a:t>
                      </a:r>
                      <a:r>
                        <a:rPr lang="en-US" altLang="zh-CN" dirty="0">
                          <a:effectLst/>
                        </a:rPr>
                        <a:t>model</a:t>
                      </a:r>
                      <a:r>
                        <a:rPr lang="zh-CN" altLang="en-US" dirty="0">
                          <a:effectLst/>
                        </a:rPr>
                        <a:t>的权重（破坏其学习），并再次计算</a:t>
                      </a:r>
                      <a:r>
                        <a:rPr lang="en-US" altLang="zh-CN" dirty="0" err="1">
                          <a:effectLst/>
                        </a:rPr>
                        <a:t>GradCAM</a:t>
                      </a:r>
                      <a:r>
                        <a:rPr lang="zh-CN" altLang="en-US" dirty="0">
                          <a:effectLst/>
                        </a:rPr>
                        <a:t>。</a:t>
                      </a:r>
                      <a:endParaRPr lang="zh-CN" altLang="en-US" dirty="0"/>
                    </a:p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如果随机化后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heatmap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看起来没有变化，说明你</a:t>
                      </a:r>
                      <a:r>
                        <a:rPr lang="en-US" altLang="zh-CN" dirty="0" err="1">
                          <a:effectLst/>
                        </a:rPr>
                        <a:t>GradCAM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是一个边缘检测器。如果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heatmap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完全改变，则证明</a:t>
                      </a:r>
                      <a:r>
                        <a:rPr lang="e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SE-</a:t>
                      </a:r>
                      <a:r>
                        <a:rPr lang="en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AlexNet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学习到了。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Adebayo, J., Gilmer, J.,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Muelly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M., Goodfellow, I., Hardt, M., &amp; Kim, B. (2018). Sanity checks for saliency maps.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Advances in neural information processing systems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总感觉和之前的消融实验逻辑差不多，有点重复了，而且不是针对</a:t>
                      </a:r>
                      <a:r>
                        <a:rPr lang="en-US" altLang="zh-CN" dirty="0"/>
                        <a:t>heatmap</a:t>
                      </a:r>
                      <a:r>
                        <a:rPr lang="zh-CN" altLang="en-US" dirty="0"/>
                        <a:t>的分析。但确实比较有名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283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863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719FC-10D1-36D2-3B05-627AFC7F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AFF30E2-39DC-2F61-8AEC-1E1B0F20B08B}"/>
              </a:ext>
            </a:extLst>
          </p:cNvPr>
          <p:cNvSpPr txBox="1"/>
          <p:nvPr/>
        </p:nvSpPr>
        <p:spPr>
          <a:xfrm>
            <a:off x="263422" y="162581"/>
            <a:ext cx="6621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Calculate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517BC06-7839-A53C-7828-B81CB6ABE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40094"/>
              </p:ext>
            </p:extLst>
          </p:nvPr>
        </p:nvGraphicFramePr>
        <p:xfrm>
          <a:off x="306939" y="1311910"/>
          <a:ext cx="1157812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13">
                  <a:extLst>
                    <a:ext uri="{9D8B030D-6E8A-4147-A177-3AD203B41FA5}">
                      <a16:colId xmlns:a16="http://schemas.microsoft.com/office/drawing/2014/main" val="1060931324"/>
                    </a:ext>
                  </a:extLst>
                </a:gridCol>
                <a:gridCol w="4504624">
                  <a:extLst>
                    <a:ext uri="{9D8B030D-6E8A-4147-A177-3AD203B41FA5}">
                      <a16:colId xmlns:a16="http://schemas.microsoft.com/office/drawing/2014/main" val="3668753565"/>
                    </a:ext>
                  </a:extLst>
                </a:gridCol>
                <a:gridCol w="2550694">
                  <a:extLst>
                    <a:ext uri="{9D8B030D-6E8A-4147-A177-3AD203B41FA5}">
                      <a16:colId xmlns:a16="http://schemas.microsoft.com/office/drawing/2014/main" val="1881838719"/>
                    </a:ext>
                  </a:extLst>
                </a:gridCol>
                <a:gridCol w="2358190">
                  <a:extLst>
                    <a:ext uri="{9D8B030D-6E8A-4147-A177-3AD203B41FA5}">
                      <a16:colId xmlns:a16="http://schemas.microsoft.com/office/drawing/2014/main" val="2504478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Related Work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Comments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922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/>
                        <a:t>Entropy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224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224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heatmap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矩阵表示为概率分布，并计算其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香农熵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。高熵，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heatmap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杂乱、模糊或分散；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低熵则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heatmap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清晰且聚焦。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Mask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的就计算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delta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熵。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Hoefler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T.,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Alistarh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D., Ben-Nun, T., Dryden, N., &amp;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Peste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A. (2021). Sparsity in deep learning: Pruning and growth for efficient inference and training in neural networks.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Journal of Machine Learning Research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(241), 1-124.</a:t>
                      </a:r>
                      <a:endParaRPr lang="zh-CN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319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39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233E-22DC-FB3C-65D8-4FF208BE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A64B4D6-1DA3-1EF5-4541-8ECD6A0D1B79}"/>
              </a:ext>
            </a:extLst>
          </p:cNvPr>
          <p:cNvSpPr txBox="1"/>
          <p:nvPr/>
        </p:nvSpPr>
        <p:spPr>
          <a:xfrm>
            <a:off x="263422" y="162581"/>
            <a:ext cx="6621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D) Some Models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58A0BDD-214E-4B9B-64E6-E69D2CE0A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565932"/>
              </p:ext>
            </p:extLst>
          </p:nvPr>
        </p:nvGraphicFramePr>
        <p:xfrm>
          <a:off x="306939" y="1311910"/>
          <a:ext cx="11578121" cy="470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13">
                  <a:extLst>
                    <a:ext uri="{9D8B030D-6E8A-4147-A177-3AD203B41FA5}">
                      <a16:colId xmlns:a16="http://schemas.microsoft.com/office/drawing/2014/main" val="1060931324"/>
                    </a:ext>
                  </a:extLst>
                </a:gridCol>
                <a:gridCol w="4504624">
                  <a:extLst>
                    <a:ext uri="{9D8B030D-6E8A-4147-A177-3AD203B41FA5}">
                      <a16:colId xmlns:a16="http://schemas.microsoft.com/office/drawing/2014/main" val="3668753565"/>
                    </a:ext>
                  </a:extLst>
                </a:gridCol>
                <a:gridCol w="2550694">
                  <a:extLst>
                    <a:ext uri="{9D8B030D-6E8A-4147-A177-3AD203B41FA5}">
                      <a16:colId xmlns:a16="http://schemas.microsoft.com/office/drawing/2014/main" val="1881838719"/>
                    </a:ext>
                  </a:extLst>
                </a:gridCol>
                <a:gridCol w="2358190">
                  <a:extLst>
                    <a:ext uri="{9D8B030D-6E8A-4147-A177-3AD203B41FA5}">
                      <a16:colId xmlns:a16="http://schemas.microsoft.com/office/drawing/2014/main" val="2504478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Related Work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Comments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922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 err="1"/>
                        <a:t>DeepGaze</a:t>
                      </a:r>
                      <a:r>
                        <a:rPr lang="en" altLang="zh-CN" dirty="0"/>
                        <a:t> II</a:t>
                      </a:r>
                    </a:p>
                    <a:p>
                      <a:r>
                        <a:rPr lang="en" altLang="zh-CN" dirty="0"/>
                        <a:t>/</a:t>
                      </a:r>
                    </a:p>
                    <a:p>
                      <a:r>
                        <a:rPr lang="en" altLang="zh-CN" dirty="0" err="1"/>
                        <a:t>DeepGaze</a:t>
                      </a:r>
                      <a:r>
                        <a:rPr lang="en" altLang="zh-CN" dirty="0"/>
                        <a:t> III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一个在眼动数据上训练的、预测“人类会看哪里”的</a:t>
                      </a:r>
                      <a:r>
                        <a:rPr lang="en-US" altLang="zh-CN" dirty="0"/>
                        <a:t>CNN</a:t>
                      </a:r>
                      <a:r>
                        <a:rPr lang="zh-CN" altLang="en-US" dirty="0"/>
                        <a:t>。可以把各种</a:t>
                      </a:r>
                      <a:r>
                        <a:rPr lang="en-US" altLang="zh-CN" dirty="0"/>
                        <a:t>mask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or full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face</a:t>
                      </a:r>
                      <a:r>
                        <a:rPr lang="zh-CN" altLang="en-US" dirty="0"/>
                        <a:t>喂给</a:t>
                      </a:r>
                      <a:r>
                        <a:rPr lang="en" altLang="zh-CN" b="0" dirty="0" err="1"/>
                        <a:t>DeepGaze</a:t>
                      </a:r>
                      <a:r>
                        <a:rPr lang="en" altLang="zh-CN" b="0" dirty="0"/>
                        <a:t> II</a:t>
                      </a:r>
                      <a:r>
                        <a:rPr lang="zh-CN" altLang="en" dirty="0"/>
                        <a:t>，</a:t>
                      </a:r>
                      <a:r>
                        <a:rPr lang="zh-CN" altLang="en-US" dirty="0"/>
                        <a:t>得到一个</a:t>
                      </a:r>
                      <a:r>
                        <a:rPr lang="en" altLang="zh-CN" dirty="0"/>
                        <a:t>Predicted Saliency Map</a:t>
                      </a:r>
                      <a:r>
                        <a:rPr lang="zh-CN" altLang="en-US" dirty="0"/>
                        <a:t>，把这张图当作 </a:t>
                      </a:r>
                      <a:r>
                        <a:rPr lang="en" altLang="zh-CN" dirty="0"/>
                        <a:t>Ground Truth</a:t>
                      </a:r>
                      <a:r>
                        <a:rPr lang="zh-CN" altLang="en-US" dirty="0"/>
                        <a:t>，然后计算</a:t>
                      </a:r>
                      <a:r>
                        <a:rPr lang="en" altLang="zh-CN" dirty="0" err="1"/>
                        <a:t>GradCAM</a:t>
                      </a:r>
                      <a:r>
                        <a:rPr lang="zh-CN" altLang="en-US" dirty="0"/>
                        <a:t>和</a:t>
                      </a:r>
                      <a:r>
                        <a:rPr lang="en" altLang="zh-CN" dirty="0" err="1"/>
                        <a:t>DeepGaze</a:t>
                      </a:r>
                      <a:r>
                        <a:rPr lang="zh-CN" altLang="en-US" dirty="0"/>
                        <a:t>图之间的</a:t>
                      </a:r>
                      <a:r>
                        <a:rPr lang="zh-CN" altLang="en-US" b="0" dirty="0"/>
                        <a:t>相关</a:t>
                      </a:r>
                      <a:endParaRPr lang="zh-CN" altLang="e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Kümmerer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M., Wallis, T. S., &amp;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Bethge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 (2016).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DeepGaze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II: Reading fixations from deep features trained on object recognition. </a:t>
                      </a:r>
                      <a:r>
                        <a:rPr lang="en" altLang="zh-CN" sz="105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preprint arXiv:1610.01563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" altLang="zh-CN" sz="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" altLang="zh-CN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Kümmerer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M.,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Bethge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M., &amp; Wallis, T. S. (2022).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DeepGaze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III: Modeling free-viewing human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scanpaths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with deep learning.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Journal of Vision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(5), 7-7.</a:t>
                      </a:r>
                      <a:endParaRPr lang="zh-CN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319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/>
                        <a:t>Multimodal LLM </a:t>
                      </a:r>
                      <a:r>
                        <a:rPr lang="zh-CN" altLang="en-US" dirty="0"/>
                        <a:t>语义评分 </a:t>
                      </a:r>
                      <a:r>
                        <a:rPr lang="en-US" altLang="zh-CN" dirty="0"/>
                        <a:t>(</a:t>
                      </a:r>
                      <a:r>
                        <a:rPr lang="en" altLang="zh-CN" dirty="0"/>
                        <a:t>GPT-4V / </a:t>
                      </a:r>
                      <a:r>
                        <a:rPr lang="en" altLang="zh-CN" dirty="0" err="1"/>
                        <a:t>LLaVA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e.g.</a:t>
                      </a:r>
                      <a:r>
                        <a:rPr lang="zh-CN" altLang="en-US" dirty="0"/>
                        <a:t>，这是一张人脸图片和对应的注意力热力图。请问热力图的高亮区域主要集中在哪个部位？</a:t>
                      </a:r>
                      <a:r>
                        <a:rPr lang="en-US" altLang="zh-CN" dirty="0"/>
                        <a:t>(</a:t>
                      </a:r>
                      <a:r>
                        <a:rPr lang="en" altLang="zh-CN" dirty="0"/>
                        <a:t>A) </a:t>
                      </a:r>
                      <a:r>
                        <a:rPr lang="zh-CN" altLang="en-US" dirty="0"/>
                        <a:t>眼睛 </a:t>
                      </a:r>
                      <a:r>
                        <a:rPr lang="en-US" altLang="zh-CN" dirty="0"/>
                        <a:t>(</a:t>
                      </a:r>
                      <a:r>
                        <a:rPr lang="en" altLang="zh-CN" dirty="0"/>
                        <a:t>B) </a:t>
                      </a:r>
                      <a:r>
                        <a:rPr lang="zh-CN" altLang="en-US" dirty="0"/>
                        <a:t>嘴巴 </a:t>
                      </a:r>
                      <a:r>
                        <a:rPr lang="en-US" altLang="zh-CN" dirty="0"/>
                        <a:t>(</a:t>
                      </a:r>
                      <a:r>
                        <a:rPr lang="en" altLang="zh-CN" dirty="0"/>
                        <a:t>C) </a:t>
                      </a:r>
                      <a:r>
                        <a:rPr lang="zh-CN" altLang="en-US" dirty="0"/>
                        <a:t>鼻子 </a:t>
                      </a:r>
                      <a:r>
                        <a:rPr lang="en-US" altLang="zh-CN" dirty="0"/>
                        <a:t>(</a:t>
                      </a:r>
                      <a:r>
                        <a:rPr lang="en" altLang="zh-CN" dirty="0"/>
                        <a:t>D) </a:t>
                      </a:r>
                      <a:r>
                        <a:rPr lang="zh-CN" altLang="en-US" dirty="0"/>
                        <a:t>背景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其他。请只输出选项。</a:t>
                      </a:r>
                      <a:endParaRPr lang="en-US" altLang="zh-CN" dirty="0"/>
                    </a:p>
                    <a:p>
                      <a:endParaRPr lang="en-US" altLang="zh-CN" dirty="0"/>
                    </a:p>
                    <a:p>
                      <a:r>
                        <a:rPr lang="zh-CN" altLang="en-US" dirty="0"/>
                        <a:t>统计</a:t>
                      </a:r>
                      <a:r>
                        <a:rPr lang="en" altLang="zh-CN" dirty="0"/>
                        <a:t>SE-</a:t>
                      </a:r>
                      <a:r>
                        <a:rPr lang="en" altLang="zh-CN" dirty="0" err="1"/>
                        <a:t>AlexNet</a:t>
                      </a:r>
                      <a:r>
                        <a:rPr lang="zh-CN" altLang="en-US" dirty="0"/>
                        <a:t>选 </a:t>
                      </a:r>
                      <a:r>
                        <a:rPr lang="en-US" altLang="zh-CN" dirty="0"/>
                        <a:t>(</a:t>
                      </a:r>
                      <a:r>
                        <a:rPr lang="en" altLang="zh-CN" dirty="0"/>
                        <a:t>A) </a:t>
                      </a:r>
                      <a:r>
                        <a:rPr lang="zh-CN" altLang="en-US" dirty="0"/>
                        <a:t>和 </a:t>
                      </a:r>
                      <a:r>
                        <a:rPr lang="en-US" altLang="zh-CN" dirty="0"/>
                        <a:t>(</a:t>
                      </a:r>
                      <a:r>
                        <a:rPr lang="en" altLang="zh-CN" dirty="0"/>
                        <a:t>B) </a:t>
                      </a:r>
                      <a:r>
                        <a:rPr lang="zh-CN" altLang="en-US" dirty="0"/>
                        <a:t>的比例，对比</a:t>
                      </a:r>
                      <a:r>
                        <a:rPr lang="en" altLang="zh-CN" dirty="0"/>
                        <a:t>VGG16</a:t>
                      </a:r>
                      <a:r>
                        <a:rPr lang="zh-CN" altLang="en-US" dirty="0"/>
                        <a:t>选 </a:t>
                      </a:r>
                      <a:r>
                        <a:rPr lang="en-US" altLang="zh-CN" dirty="0"/>
                        <a:t>(</a:t>
                      </a:r>
                      <a:r>
                        <a:rPr lang="en" altLang="zh-CN" dirty="0"/>
                        <a:t>D) </a:t>
                      </a:r>
                      <a:r>
                        <a:rPr lang="zh-CN" altLang="en-US" dirty="0"/>
                        <a:t>的比例。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Castellano, G.,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Miccoli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 G.,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Scaringi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R.,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Vessio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G., &amp; Zaza, G. (2024, November). Using LLMs to explain AI-generated art classification via Grad-CAM heatmaps. In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Proceedings of 5th Italian Workshop on Explainable Artificial Intelligence, co-located with the 23rd International Conference of the Italian Association for Artificial Intelligence, Bolzano, Italy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" altLang="zh-CN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Li, X., Yin, K., &amp; Gu, Y. (2025). Approach to Eye Tracking </a:t>
                      </a:r>
                      <a:r>
                        <a:rPr lang="en" altLang="zh-C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Scanpath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Analysis with Multimodal Large Language Model.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Modelling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" altLang="zh-CN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en" altLang="zh-C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(4), 164.</a:t>
                      </a:r>
                    </a:p>
                    <a:p>
                      <a:endParaRPr lang="zh-CN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有点抽象，但好像做的人还不算少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279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799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1037</Words>
  <Application>Microsoft Macintosh PowerPoint</Application>
  <PresentationFormat>宽屏</PresentationFormat>
  <Paragraphs>60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Jiayu Bao</dc:creator>
  <cp:lastModifiedBy>Jiayu Bao</cp:lastModifiedBy>
  <cp:revision>3</cp:revision>
  <dcterms:created xsi:type="dcterms:W3CDTF">2026-01-15T07:36:12Z</dcterms:created>
  <dcterms:modified xsi:type="dcterms:W3CDTF">2026-01-15T09:29:51Z</dcterms:modified>
</cp:coreProperties>
</file>